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dia/boa noite à banca. Apresento a Rubrica SINAPSE-BR IA. Antes dos aspectos técnicos, convido a olhar para a questão central: superar a 'fratura educacional' histórica que divide quem pensa de quem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tradicional classifica e exclui. Usamos a metáfora de Saviani: 'A Curvatura da Vara'. Se a educação está curvada para o técnico fragmentado, precisamos curvá-la conscientemente para o humano para que fique 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pensamento não ocorre no vácuo. Usamos a metáfora do 'Chão Geográfico': a avaliação está enraizada no território. E como iluminamos esse chão? Com a 'Teoria como Luz'. A ciência ilumina a prática, e a prática dá concretude à teoria.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Sinapse? Biologicamente, é a comunicação entre neurônios. Pedagogicamente, é o 'Encontro Pedagógico'. É onde a avaliação conecta professor, aluno e IA. A IA é o neurotransmissor que facilita a conexão, não o cérebro que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Operacionalizamos com o 'Voxel': o aluno não é uma nota linear, é um ponto 3D. E usamos a 'Permeabilidade Seletiva': a rubrica é uma membrana que deixa entrar o saber local (nutrição) mas mantém o rigor científico (proteção).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é software isolado, é um 'Ecossistema'. Os elementos são interdependentes. A IA é tecnologia assistiva: processa a volumetria de dados para liberar o docente para a mediação humana. A IA é o solo fértil, o professor é o jardineiro.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rubrica funciona como regulação, não punição. Ela reduz o ruído na comunicação. O aluno desenvolve metacognição: entende por que errou. É aprender a aprender, iluminado pela teoria e enraizado no seu chão.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a DBR: intervir para compreender. Fizemos uma 'Arqueologia Educativa' em Sobradinho. Validamos com uma 'Rubrica para Avaliar Rubricas'. Tecnologicamente, usamos Grounding para evitar alucinações da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resultado vai além da nota. Operamos com 'Hospitalidade Técnica'. A avaliação acolhe as rugosidades do território. Resgatamos a memória das camisetas amarelas da EMS e elevamos à critério pedagógico.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uma semente. O futuro projeta o 'Ecossistema SINAPSE Total' no mestrado. Novos agentes como SOPHIA e YA-YA atuarão como personas pedagógicas. A IA serve à emancipação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Agradeço à orientadora e colegas. Deixo o link do protótipo à disposição. Estou pronto para as perguntas da banca. Muito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Rubrica SINAPSE-BR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Fundo sutil com logo do IFTM e rede neural.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Problema: A Fratura e a Curvatura da Vara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Dualidade Estrutural: Pensar vs. Fazer.</a:t>
            </a:r>
          </a:p>
          <a:p>
            <a:pPr>
              <a:spcAft>
                <a:spcPts val="1000"/>
              </a:spcAft>
              <a:defRPr sz="1800"/>
            </a:pPr>
            <a:r>
              <a:t>Risco: Exclusão Branda (Aluno presente, mas marginalizado).</a:t>
            </a:r>
          </a:p>
          <a:p>
            <a:pPr>
              <a:spcAft>
                <a:spcPts val="1000"/>
              </a:spcAft>
              <a:defRPr sz="1800"/>
            </a:pPr>
            <a:r>
              <a:t>Metáfora: 'A Curvatura da Vara' (Saviani).</a:t>
            </a:r>
          </a:p>
          <a:p>
            <a:pPr>
              <a:spcAft>
                <a:spcPts val="1000"/>
              </a:spcAft>
              <a:defRPr sz="1800"/>
            </a:pPr>
            <a:r>
              <a:t>Objetivo: Equilíbrio entre Técnica e Formação Humana.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Imagem ilustrativa de uma vara de madeira sendo corrigida de uma curva excessiva para o centro.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Fundamentação: O Chão Geográfico e a Luz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Geofilosofia: O Território como condicionante.</a:t>
            </a:r>
          </a:p>
          <a:p>
            <a:pPr>
              <a:spcAft>
                <a:spcPts val="1000"/>
              </a:spcAft>
              <a:defRPr sz="1800"/>
            </a:pPr>
            <a:r>
              <a:t>Metáfora 1: 'O Chão Geográfico' (Realidade de Sobradinho).</a:t>
            </a:r>
          </a:p>
          <a:p>
            <a:pPr>
              <a:spcAft>
                <a:spcPts val="1000"/>
              </a:spcAft>
              <a:defRPr sz="1800"/>
            </a:pPr>
            <a:r>
              <a:t>Metáfora 2: 'A Teoria como Luz' (Freire).</a:t>
            </a:r>
          </a:p>
          <a:p>
            <a:pPr>
              <a:spcAft>
                <a:spcPts val="1000"/>
              </a:spcAft>
              <a:defRPr sz="1800"/>
            </a:pPr>
            <a:r>
              <a:t>Contexto: Triângulo Mineiro e Alto Paranaíba (TMAP).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Uma planta de raízes profundas em um mapa do Triângulo Mineiro, iluminada por um feixe de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Conexão: A Metáfora da Sinapse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Projeto: SINAPSE-BR IA.</a:t>
            </a:r>
          </a:p>
          <a:p>
            <a:pPr>
              <a:spcAft>
                <a:spcPts val="1000"/>
              </a:spcAft>
              <a:defRPr sz="1800"/>
            </a:pPr>
            <a:r>
              <a:t>Metáfora Central: 'A Sinapse Pedagógica'.</a:t>
            </a:r>
          </a:p>
          <a:p>
            <a:pPr>
              <a:spcAft>
                <a:spcPts val="1000"/>
              </a:spcAft>
              <a:defRPr sz="1800"/>
            </a:pPr>
            <a:r>
              <a:t>Triade: Ensino + Aprendizagem + Tecnologia.</a:t>
            </a:r>
          </a:p>
          <a:p>
            <a:pPr>
              <a:spcAft>
                <a:spcPts val="1000"/>
              </a:spcAft>
              <a:defRPr sz="1800"/>
            </a:pPr>
            <a:r>
              <a:t>Função: Transformar julgamento estático em comunicação dinâmica.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Esquema de uma sinapse neural, rotulada com: Professor, Aluno, Tecnologia (IA).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Produto: Voxel e Permeabilidade Seletiva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Metáfora 3: 'O Voxel' (Marcador 3D de Precisão).</a:t>
            </a:r>
          </a:p>
          <a:p>
            <a:pPr>
              <a:spcAft>
                <a:spcPts val="1000"/>
              </a:spcAft>
              <a:defRPr sz="1800"/>
            </a:pPr>
            <a:r>
              <a:t>Metáfora 4: 'Permeabilidade Seletiva' (Biologia Celular).</a:t>
            </a:r>
          </a:p>
          <a:p>
            <a:pPr>
              <a:spcAft>
                <a:spcPts val="1000"/>
              </a:spcAft>
              <a:defRPr sz="1800"/>
            </a:pPr>
            <a:r>
              <a:t>Dimensões: Cognitiva, Práxis, Territorial.</a:t>
            </a:r>
          </a:p>
          <a:p>
            <a:pPr>
              <a:spcAft>
                <a:spcPts val="1000"/>
              </a:spcAft>
              <a:defRPr sz="1800"/>
            </a:pPr>
            <a:r>
              <a:t>Inovação: Avaliação Multidimensional (Não linear).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Representação 3D de um voxel (cubo) ao lado de uma membrana celular filtrando elementos.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Papel da IA: Dentro do Ecossistema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Metáfora 5: 'O Ecossistema Avaliativo'.</a:t>
            </a:r>
          </a:p>
          <a:p>
            <a:pPr>
              <a:spcAft>
                <a:spcPts val="1000"/>
              </a:spcAft>
              <a:defRPr sz="1800"/>
            </a:pPr>
            <a:r>
              <a:t>Interdependência: IA, Professores, Alunos, Território.</a:t>
            </a:r>
          </a:p>
          <a:p>
            <a:pPr>
              <a:spcAft>
                <a:spcPts val="1000"/>
              </a:spcAft>
              <a:defRPr sz="1800"/>
            </a:pPr>
            <a:r>
              <a:t>IA como Tecnologia Assistiva (Visão de Nicolelis).</a:t>
            </a:r>
          </a:p>
          <a:p>
            <a:pPr>
              <a:spcAft>
                <a:spcPts val="1000"/>
              </a:spcAft>
              <a:defRPr sz="1800"/>
            </a:pPr>
            <a:r>
              <a:t>Papel: Processar dados para liberar o humano.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Diagrama de um ecossistema natural interligado com ícones de dados.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Funcionalidade: Do Julgamento à Regulação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Mudança: De punição para regulação.</a:t>
            </a:r>
          </a:p>
          <a:p>
            <a:pPr>
              <a:spcAft>
                <a:spcPts val="1000"/>
              </a:spcAft>
              <a:defRPr sz="1800"/>
            </a:pPr>
            <a:r>
              <a:t>Metacognição: Pensar sobre o próprio pensar.</a:t>
            </a:r>
          </a:p>
          <a:p>
            <a:pPr>
              <a:spcAft>
                <a:spcPts val="1000"/>
              </a:spcAft>
              <a:defRPr sz="1800"/>
            </a:pPr>
            <a:r>
              <a:t>DUA: Redução de barreiras e ruídos.</a:t>
            </a:r>
          </a:p>
          <a:p>
            <a:pPr>
              <a:spcAft>
                <a:spcPts val="1000"/>
              </a:spcAft>
              <a:defRPr sz="1800"/>
            </a:pPr>
            <a:r>
              <a:t>Transparência: Critérios explícitos.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Comparativo: Balança (Justiça Cega) vs. Espelho/Bússola (Orientação).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Metodologia: Design-Based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Método: Design-Based Research (DBR).</a:t>
            </a:r>
          </a:p>
          <a:p>
            <a:pPr>
              <a:spcAft>
                <a:spcPts val="1000"/>
              </a:spcAft>
              <a:defRPr sz="1800"/>
            </a:pPr>
            <a:r>
              <a:t>Fontes: História da EPT (COAGRI/IFTM) e Microdados (INEP).</a:t>
            </a:r>
          </a:p>
          <a:p>
            <a:pPr>
              <a:spcAft>
                <a:spcPts val="1000"/>
              </a:spcAft>
              <a:defRPr sz="1800"/>
            </a:pPr>
            <a:r>
              <a:t>Validação: Matriz de Rubrica para Avaliar Rubricas (Mullinix).</a:t>
            </a:r>
          </a:p>
          <a:p>
            <a:pPr>
              <a:spcAft>
                <a:spcPts val="1000"/>
              </a:spcAft>
              <a:defRPr sz="1800"/>
            </a:pPr>
            <a:r>
              <a:t>Tecnologia: Python, Streamlit, LLMs (Grounding).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Linha do tempo ou fluxograma: Pesquisa -&gt; Modelagem -&gt; Protótipo -&gt; Validação.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Impacto Social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Transparência Pedagógica.</a:t>
            </a:r>
          </a:p>
          <a:p>
            <a:pPr>
              <a:spcAft>
                <a:spcPts val="1000"/>
              </a:spcAft>
              <a:defRPr sz="1800"/>
            </a:pPr>
            <a:r>
              <a:t>Combate à Evasão: Monitoramento Preditivo.</a:t>
            </a:r>
          </a:p>
          <a:p>
            <a:pPr>
              <a:spcAft>
                <a:spcPts val="1000"/>
              </a:spcAft>
              <a:defRPr sz="1800"/>
            </a:pPr>
            <a:r>
              <a:t>Justiça Curricular: No Triângulo Mineiro.</a:t>
            </a:r>
          </a:p>
          <a:p>
            <a:pPr>
              <a:spcAft>
                <a:spcPts val="1000"/>
              </a:spcAft>
              <a:defRPr sz="1800"/>
            </a:pPr>
            <a:r>
              <a:t>Conceito: Hospitalidade Técnica.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Foto histórica da Fazenda Sobradinho contrastando com dados educacionais futuristas.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Futuro: Ecossistema SINAPSE 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Status: Protótipo Funcional Validado.</a:t>
            </a:r>
          </a:p>
          <a:p>
            <a:pPr>
              <a:spcAft>
                <a:spcPts val="1000"/>
              </a:spcAft>
              <a:defRPr sz="1800"/>
            </a:pPr>
            <a:r>
              <a:t>Próximos Passos: Mestrado (ProfEPT/MPeT).</a:t>
            </a:r>
          </a:p>
          <a:p>
            <a:pPr>
              <a:spcAft>
                <a:spcPts val="1000"/>
              </a:spcAft>
              <a:defRPr sz="1800"/>
            </a:pPr>
            <a:r>
              <a:t>Expansão: Ecossistema SINAPSE Total.</a:t>
            </a:r>
          </a:p>
          <a:p>
            <a:pPr>
              <a:spcAft>
                <a:spcPts val="1000"/>
              </a:spcAft>
              <a:defRPr sz="1800"/>
            </a:pPr>
            <a:r>
              <a:t>Novos Agentes: SOPHIA, YA-YA, MANNA, ROTOR.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Ícones representando os futuros módulos orbitando o núcleo SINAPSE.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Agradecimentos e 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Referências Chave: Saviani, Santos, Fernandes, Nicolelis.</a:t>
            </a:r>
          </a:p>
          <a:p>
            <a:pPr>
              <a:spcAft>
                <a:spcPts val="1000"/>
              </a:spcAft>
              <a:defRPr sz="1800"/>
            </a:pPr>
            <a:r>
              <a:t>Agradecimentos: Orientadora, Família, IFTM.</a:t>
            </a:r>
          </a:p>
          <a:p>
            <a:pPr>
              <a:spcAft>
                <a:spcPts val="1000"/>
              </a:spcAft>
              <a:defRPr sz="1800"/>
            </a:pPr>
            <a:r>
              <a:t>Acesso: QR Code (GitHub/Streamlit).</a:t>
            </a:r>
          </a:p>
          <a:p>
            <a:pPr>
              <a:spcAft>
                <a:spcPts val="1000"/>
              </a:spcAft>
              <a:defRPr sz="1800"/>
            </a:pPr>
            <a:r>
              <a:t>Contato: neirivon.cardoso@iftm.edu.br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[INSERIR IMAGEM AQUI]</a:t>
            </a:r>
          </a:p>
          <a:p>
            <a:r>
              <a:t>Lista limpa de referências e QR Code para o repositório.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